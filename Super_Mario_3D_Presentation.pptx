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briefly (names and roles, if split).
One-liner: "We built a 3D platformer in the style of Super Mario, playable in the browser, using Three.js for rendering and cannon-es for physics."
Preview the roadmap: models, animations, map, collisions, interactions, then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each character has a bone hierarchy (hips, spine, arms, legs) and that our animation system moves these bones in real time, not just plays back pre-baked clips.
Key technical point: characters from different sources have different bone names, so we built a BoneMap layer that translates them into common roles — the same code can then animate Mario, Luigi, Yoshi and Bowser.
Mention that props and buildings use simpler, non-rigged models for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transitions between animations (e.g. walking to running) aren't abrupt — there's a short cross-fade blending the two poses for smooth motion.
Example: Bowser's fire attack is a scripted, locked pose held on top of the same walking rig, not a separate imported animation.
If you're doing a live demo, mention you'll see these transitions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level isn't hand-written in code — it's described in data files, so new content can be added without touching game logic.
Decorations (grass, trees, rocks) amount to thousands of elements but are drawn in very few draw calls, to keep the browser fast.
Mention the boss arenas and the sky planet are separate areas reached via warp stars.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difference between the visible model (detailed) and the collider used for physics (much simpler, for performance).
Concrete example: Mario's house has an irregular shape (octagonal base, sloped roof), so its collider is a single physics body with several simple shapes (rotated boxes) added to it, instead of one collider per sub-mesh.
If useful, show the player slowing down when entering a water/mud puddle — handled by the same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overall goal: collect the 5 Power Stars by defeating the bosses and completing challenges across the island.
Mention that the music switches automatically depending on the zone you're in — a direct track change, not a cross-fade.
If you're not doing a separate demo slide, this is where you can say you'll show these interactions live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slide before switching to the browser for the actual demo.
Agree beforehand who drives the demo and what to show in 1–2 minutes max: e.g. quick exploration, a jump on Yoshi, the start of a boss fight.
Keep the game already open and ready in another tab/window before reaching this slide, to avoid wasting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in one sentence the work done and the fact that it runs entirely in the browser.
If time allows, mention one technical challenge you found interesting to solve (e.g. compound colliders, or gravity on the spherical planet).
Close by thanking the audience and opening the floor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F3C7E"/>
          </a:solidFill>
          <a:ln/>
        </p:spPr>
      </p:sp>
      <p:sp>
        <p:nvSpPr>
          <p:cNvPr id="3" name="Shape 1"/>
          <p:cNvSpPr/>
          <p:nvPr/>
        </p:nvSpPr>
        <p:spPr>
          <a:xfrm>
            <a:off x="8961120" y="-1371600"/>
            <a:ext cx="5486400" cy="5486400"/>
          </a:xfrm>
          <a:prstGeom prst="ellipse">
            <a:avLst/>
          </a:prstGeom>
          <a:solidFill>
            <a:srgbClr val="990011">
              <a:alpha val="30000"/>
            </a:srgbClr>
          </a:solidFill>
          <a:ln/>
        </p:spPr>
      </p:sp>
      <p:sp>
        <p:nvSpPr>
          <p:cNvPr id="4" name="Shape 2"/>
          <p:cNvSpPr/>
          <p:nvPr/>
        </p:nvSpPr>
        <p:spPr>
          <a:xfrm>
            <a:off x="-1371600" y="4572000"/>
            <a:ext cx="4572000" cy="4572000"/>
          </a:xfrm>
          <a:prstGeom prst="ellipse">
            <a:avLst/>
          </a:prstGeom>
          <a:solidFill>
            <a:srgbClr val="990011">
              <a:alpha val="20000"/>
            </a:srgbClr>
          </a:solidFill>
          <a:ln/>
        </p:spPr>
      </p:sp>
      <p:sp>
        <p:nvSpPr>
          <p:cNvPr id="5" name="Text 3"/>
          <p:cNvSpPr txBox="1"/>
          <p:nvPr/>
        </p:nvSpPr>
        <p:spPr>
          <a:xfrm>
            <a:off x="822960" y="2103120"/>
            <a:ext cx="10515600" cy="457200"/>
          </a:xfrm>
          <a:prstGeom prst="rect">
            <a:avLst/>
          </a:prstGeom>
          <a:noFill/>
          <a:ln/>
        </p:spPr>
        <p:txBody>
          <a:bodyPr wrap="square" lIns="0" tIns="0" rIns="0" bIns="0" rtlCol="0" anchor="ctr"/>
          <a:lstStyle/>
          <a:p>
            <a:pPr indent="0" marL="0">
              <a:buNone/>
            </a:pPr>
            <a:r>
              <a:rPr lang="en-US" sz="1500" b="1" spc="200" kern="0" dirty="0">
                <a:solidFill>
                  <a:srgbClr val="CADCFC"/>
                </a:solidFill>
                <a:latin typeface="Calibri" pitchFamily="34" charset="0"/>
                <a:ea typeface="Calibri" pitchFamily="34" charset="-122"/>
                <a:cs typeface="Calibri" pitchFamily="34" charset="-120"/>
              </a:rPr>
              <a:t>INTERACTIVE GRAPHICS — FINAL PROJECT</a:t>
            </a:r>
            <a:endParaRPr lang="en-US" sz="1500" dirty="0"/>
          </a:p>
        </p:txBody>
      </p:sp>
      <p:sp>
        <p:nvSpPr>
          <p:cNvPr id="6" name="Text 4"/>
          <p:cNvSpPr txBox="1"/>
          <p:nvPr/>
        </p:nvSpPr>
        <p:spPr>
          <a:xfrm>
            <a:off x="822960" y="2606040"/>
            <a:ext cx="10515600" cy="11887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Super Mario 3D Platformer</a:t>
            </a:r>
            <a:endParaRPr lang="en-US" sz="4800" dirty="0"/>
          </a:p>
        </p:txBody>
      </p:sp>
      <p:sp>
        <p:nvSpPr>
          <p:cNvPr id="7" name="Text 5"/>
          <p:cNvSpPr txBox="1"/>
          <p:nvPr/>
        </p:nvSpPr>
        <p:spPr>
          <a:xfrm>
            <a:off x="822960" y="3794760"/>
            <a:ext cx="9601200" cy="54864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A browser-based 3D platformer built with Three.js and cannon-es</a:t>
            </a:r>
            <a:endParaRPr lang="en-US" sz="1800" dirty="0"/>
          </a:p>
        </p:txBody>
      </p:sp>
      <p:sp>
        <p:nvSpPr>
          <p:cNvPr id="8" name="Text 6"/>
          <p:cNvSpPr txBox="1"/>
          <p:nvPr/>
        </p:nvSpPr>
        <p:spPr>
          <a:xfrm>
            <a:off x="822960" y="5943600"/>
            <a:ext cx="1005840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[Team member names]  •  Sapienza University of Rome  •  A.Y. 2025/2026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320040"/>
          </a:xfrm>
          <a:prstGeom prst="rect">
            <a:avLst/>
          </a:prstGeom>
          <a:noFill/>
          <a:ln/>
        </p:spPr>
        <p:txBody>
          <a:bodyPr wrap="square" lIns="0" tIns="0" rIns="0" bIns="0" rtlCol="0" anchor="ctr"/>
          <a:lstStyle/>
          <a:p>
            <a:pPr indent="0" marL="0">
              <a:buNone/>
            </a:pPr>
            <a:r>
              <a:rPr lang="en-US" sz="1200" b="1" dirty="0">
                <a:solidFill>
                  <a:srgbClr val="990011"/>
                </a:solidFill>
                <a:latin typeface="Calibri" pitchFamily="34" charset="0"/>
                <a:ea typeface="Calibri" pitchFamily="34" charset="-122"/>
                <a:cs typeface="Calibri" pitchFamily="34" charset="-120"/>
              </a:rPr>
              <a:t>02 / 08  —  MODELS</a:t>
            </a:r>
            <a:endParaRPr lang="en-US" sz="1200" dirty="0"/>
          </a:p>
        </p:txBody>
      </p:sp>
      <p:sp>
        <p:nvSpPr>
          <p:cNvPr id="3" name="Text 1"/>
          <p:cNvSpPr txBox="1"/>
          <p:nvPr/>
        </p:nvSpPr>
        <p:spPr>
          <a:xfrm>
            <a:off x="457200" y="594360"/>
            <a:ext cx="11247120" cy="82296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3D Models &amp; Rigging</a:t>
            </a:r>
            <a:endParaRPr lang="en-US" sz="3400" dirty="0"/>
          </a:p>
        </p:txBody>
      </p:sp>
      <p:sp>
        <p:nvSpPr>
          <p:cNvPr id="4" name="Text 2"/>
          <p:cNvSpPr txBox="1"/>
          <p:nvPr/>
        </p:nvSpPr>
        <p:spPr>
          <a:xfrm>
            <a:off x="457200" y="1737360"/>
            <a:ext cx="6309360" cy="42976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Main characters (Mario, Luigi, Yoshi, Bowser, Kamek, Peach) are fully rigged, bone-based hierarchies</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A shared BoneMap layer maps each rig's bone names to common semantic roles (hip, spine, upperArmL...)</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This lets one animation system drive characters that were authored independently, with different rigs</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Simpler, non-rigged glTF models are used for props and buildings (Mario's house, blocks, coins, stars)</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All models are Draco-compressed to keep load times low</a:t>
            </a:r>
            <a:endParaRPr lang="en-US" sz="1600" dirty="0"/>
          </a:p>
        </p:txBody>
      </p:sp>
      <p:sp>
        <p:nvSpPr>
          <p:cNvPr id="5" name="Shape 3"/>
          <p:cNvSpPr/>
          <p:nvPr/>
        </p:nvSpPr>
        <p:spPr>
          <a:xfrm>
            <a:off x="7040880" y="1737360"/>
            <a:ext cx="4663440" cy="4297680"/>
          </a:xfrm>
          <a:prstGeom prst="rect">
            <a:avLst/>
          </a:prstGeom>
          <a:solidFill>
            <a:srgbClr val="F0E4E4"/>
          </a:solidFill>
          <a:ln w="15875">
            <a:solidFill>
              <a:srgbClr val="990011"/>
            </a:solidFill>
            <a:prstDash val="dash"/>
          </a:ln>
        </p:spPr>
      </p:sp>
      <p:sp>
        <p:nvSpPr>
          <p:cNvPr id="6" name="Text 4"/>
          <p:cNvSpPr txBox="1"/>
          <p:nvPr/>
        </p:nvSpPr>
        <p:spPr>
          <a:xfrm>
            <a:off x="7178040" y="3520440"/>
            <a:ext cx="4389120" cy="731520"/>
          </a:xfrm>
          <a:prstGeom prst="rect">
            <a:avLst/>
          </a:prstGeom>
          <a:noFill/>
          <a:ln/>
        </p:spPr>
        <p:txBody>
          <a:bodyPr wrap="square" lIns="0" tIns="0" rIns="0" bIns="0" rtlCol="0" anchor="ctr"/>
          <a:lstStyle/>
          <a:p>
            <a:pPr algn="ctr" indent="0" marL="0">
              <a:buNone/>
            </a:pPr>
            <a:r>
              <a:rPr lang="en-US" sz="1300" b="1" dirty="0">
                <a:solidFill>
                  <a:srgbClr val="990011"/>
                </a:solidFill>
                <a:latin typeface="Calibri" pitchFamily="34" charset="0"/>
                <a:ea typeface="Calibri" pitchFamily="34" charset="-122"/>
                <a:cs typeface="Calibri" pitchFamily="34" charset="-120"/>
              </a:rPr>
              <a:t>IMAGE PLACEHOLDER
</a:t>
            </a:r>
            <a:endParaRPr lang="en-US" sz="1300" dirty="0"/>
          </a:p>
          <a:p>
            <a:pPr algn="ctr" indent="0" marL="0">
              <a:buNone/>
            </a:pPr>
            <a:r>
              <a:rPr lang="en-US" sz="1100" i="1" dirty="0">
                <a:solidFill>
                  <a:srgbClr val="6B6B6B"/>
                </a:solidFill>
                <a:latin typeface="Calibri" pitchFamily="34" charset="0"/>
                <a:ea typeface="Calibri" pitchFamily="34" charset="-122"/>
                <a:cs typeface="Calibri" pitchFamily="34" charset="-120"/>
              </a:rPr>
              <a:t>Insert: screenshots/mario_skeleton.png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320040"/>
          </a:xfrm>
          <a:prstGeom prst="rect">
            <a:avLst/>
          </a:prstGeom>
          <a:noFill/>
          <a:ln/>
        </p:spPr>
        <p:txBody>
          <a:bodyPr wrap="square" lIns="0" tIns="0" rIns="0" bIns="0" rtlCol="0" anchor="ctr"/>
          <a:lstStyle/>
          <a:p>
            <a:pPr indent="0" marL="0">
              <a:buNone/>
            </a:pPr>
            <a:r>
              <a:rPr lang="en-US" sz="1200" b="1" dirty="0">
                <a:solidFill>
                  <a:srgbClr val="990011"/>
                </a:solidFill>
                <a:latin typeface="Calibri" pitchFamily="34" charset="0"/>
                <a:ea typeface="Calibri" pitchFamily="34" charset="-122"/>
                <a:cs typeface="Calibri" pitchFamily="34" charset="-120"/>
              </a:rPr>
              <a:t>03 / 08  —  ANIMATIONS</a:t>
            </a:r>
            <a:endParaRPr lang="en-US" sz="1200" dirty="0"/>
          </a:p>
        </p:txBody>
      </p:sp>
      <p:sp>
        <p:nvSpPr>
          <p:cNvPr id="3" name="Text 1"/>
          <p:cNvSpPr txBox="1"/>
          <p:nvPr/>
        </p:nvSpPr>
        <p:spPr>
          <a:xfrm>
            <a:off x="457200" y="594360"/>
            <a:ext cx="11247120" cy="82296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Animation System</a:t>
            </a:r>
            <a:endParaRPr lang="en-US" sz="3400" dirty="0"/>
          </a:p>
        </p:txBody>
      </p:sp>
      <p:sp>
        <p:nvSpPr>
          <p:cNvPr id="4" name="Shape 2"/>
          <p:cNvSpPr/>
          <p:nvPr/>
        </p:nvSpPr>
        <p:spPr>
          <a:xfrm>
            <a:off x="457200" y="1737360"/>
            <a:ext cx="4663440" cy="4297680"/>
          </a:xfrm>
          <a:prstGeom prst="rect">
            <a:avLst/>
          </a:prstGeom>
          <a:solidFill>
            <a:srgbClr val="F0E4E4"/>
          </a:solidFill>
          <a:ln w="15875">
            <a:solidFill>
              <a:srgbClr val="990011"/>
            </a:solidFill>
            <a:prstDash val="dash"/>
          </a:ln>
        </p:spPr>
      </p:sp>
      <p:sp>
        <p:nvSpPr>
          <p:cNvPr id="5" name="Text 3"/>
          <p:cNvSpPr txBox="1"/>
          <p:nvPr/>
        </p:nvSpPr>
        <p:spPr>
          <a:xfrm>
            <a:off x="594360" y="3520440"/>
            <a:ext cx="4389120" cy="731520"/>
          </a:xfrm>
          <a:prstGeom prst="rect">
            <a:avLst/>
          </a:prstGeom>
          <a:noFill/>
          <a:ln/>
        </p:spPr>
        <p:txBody>
          <a:bodyPr wrap="square" lIns="0" tIns="0" rIns="0" bIns="0" rtlCol="0" anchor="ctr"/>
          <a:lstStyle/>
          <a:p>
            <a:pPr algn="ctr" indent="0" marL="0">
              <a:buNone/>
            </a:pPr>
            <a:r>
              <a:rPr lang="en-US" sz="1300" b="1" dirty="0">
                <a:solidFill>
                  <a:srgbClr val="990011"/>
                </a:solidFill>
                <a:latin typeface="Calibri" pitchFamily="34" charset="0"/>
                <a:ea typeface="Calibri" pitchFamily="34" charset="-122"/>
                <a:cs typeface="Calibri" pitchFamily="34" charset="-120"/>
              </a:rPr>
              <a:t>IMAGE PLACEHOLDER
</a:t>
            </a:r>
            <a:endParaRPr lang="en-US" sz="1300" dirty="0"/>
          </a:p>
          <a:p>
            <a:pPr algn="ctr" indent="0" marL="0">
              <a:buNone/>
            </a:pPr>
            <a:r>
              <a:rPr lang="en-US" sz="1100" i="1" dirty="0">
                <a:solidFill>
                  <a:srgbClr val="6B6B6B"/>
                </a:solidFill>
                <a:latin typeface="Calibri" pitchFamily="34" charset="0"/>
                <a:ea typeface="Calibri" pitchFamily="34" charset="-122"/>
                <a:cs typeface="Calibri" pitchFamily="34" charset="-120"/>
              </a:rPr>
              <a:t>Insert: screenshots/boss_fight.png</a:t>
            </a:r>
            <a:endParaRPr lang="en-US" sz="1300" dirty="0"/>
          </a:p>
        </p:txBody>
      </p:sp>
      <p:sp>
        <p:nvSpPr>
          <p:cNvPr id="6" name="Text 4"/>
          <p:cNvSpPr txBox="1"/>
          <p:nvPr/>
        </p:nvSpPr>
        <p:spPr>
          <a:xfrm>
            <a:off x="5394960" y="1737360"/>
            <a:ext cx="6309360" cy="42976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Poses are computed procedurally in real time, not only played back from fixed clips</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Smooth cross-fades (~0.18s) between states such as idle, walk and run</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Dedicated animations for interactions: riding Yoshi, talking to Toad, Bowser's fire-breath wind-up</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A scripted animation drives the closing scene with Princess Peach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320040"/>
          </a:xfrm>
          <a:prstGeom prst="rect">
            <a:avLst/>
          </a:prstGeom>
          <a:noFill/>
          <a:ln/>
        </p:spPr>
        <p:txBody>
          <a:bodyPr wrap="square" lIns="0" tIns="0" rIns="0" bIns="0" rtlCol="0" anchor="ctr"/>
          <a:lstStyle/>
          <a:p>
            <a:pPr indent="0" marL="0">
              <a:buNone/>
            </a:pPr>
            <a:r>
              <a:rPr lang="en-US" sz="1200" b="1" dirty="0">
                <a:solidFill>
                  <a:srgbClr val="990011"/>
                </a:solidFill>
                <a:latin typeface="Calibri" pitchFamily="34" charset="0"/>
                <a:ea typeface="Calibri" pitchFamily="34" charset="-122"/>
                <a:cs typeface="Calibri" pitchFamily="34" charset="-120"/>
              </a:rPr>
              <a:t>04 / 08  —  MAP</a:t>
            </a:r>
            <a:endParaRPr lang="en-US" sz="1200" dirty="0"/>
          </a:p>
        </p:txBody>
      </p:sp>
      <p:sp>
        <p:nvSpPr>
          <p:cNvPr id="3" name="Text 1"/>
          <p:cNvSpPr txBox="1"/>
          <p:nvPr/>
        </p:nvSpPr>
        <p:spPr>
          <a:xfrm>
            <a:off x="457200" y="594360"/>
            <a:ext cx="11247120" cy="82296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World &amp; Environment</a:t>
            </a:r>
            <a:endParaRPr lang="en-US" sz="3400" dirty="0"/>
          </a:p>
        </p:txBody>
      </p:sp>
      <p:sp>
        <p:nvSpPr>
          <p:cNvPr id="4" name="Text 2"/>
          <p:cNvSpPr txBox="1"/>
          <p:nvPr/>
        </p:nvSpPr>
        <p:spPr>
          <a:xfrm>
            <a:off x="457200" y="1737360"/>
            <a:ext cx="6309360" cy="42976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The game world is data-driven: JSON files describe the main island, each boss arena, and the ending area</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A dedicated loader parses this data and builds the level automatically — platforms, buildings, enemies, points of interest</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Decorations (trees, grass, rocks, flowers) are placed procedurally and rendered with instancing for performance</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Two boss arenas and an explorable sky planet, reached through warp-star portals</a:t>
            </a:r>
            <a:endParaRPr lang="en-US" sz="1600" dirty="0"/>
          </a:p>
        </p:txBody>
      </p:sp>
      <p:sp>
        <p:nvSpPr>
          <p:cNvPr id="5" name="Shape 3"/>
          <p:cNvSpPr/>
          <p:nvPr/>
        </p:nvSpPr>
        <p:spPr>
          <a:xfrm>
            <a:off x="7040880" y="1737360"/>
            <a:ext cx="4663440" cy="4297680"/>
          </a:xfrm>
          <a:prstGeom prst="rect">
            <a:avLst/>
          </a:prstGeom>
          <a:solidFill>
            <a:srgbClr val="F0E4E4"/>
          </a:solidFill>
          <a:ln w="15875">
            <a:solidFill>
              <a:srgbClr val="990011"/>
            </a:solidFill>
            <a:prstDash val="dash"/>
          </a:ln>
        </p:spPr>
      </p:sp>
      <p:sp>
        <p:nvSpPr>
          <p:cNvPr id="6" name="Text 4"/>
          <p:cNvSpPr txBox="1"/>
          <p:nvPr/>
        </p:nvSpPr>
        <p:spPr>
          <a:xfrm>
            <a:off x="7178040" y="3520440"/>
            <a:ext cx="4389120" cy="731520"/>
          </a:xfrm>
          <a:prstGeom prst="rect">
            <a:avLst/>
          </a:prstGeom>
          <a:noFill/>
          <a:ln/>
        </p:spPr>
        <p:txBody>
          <a:bodyPr wrap="square" lIns="0" tIns="0" rIns="0" bIns="0" rtlCol="0" anchor="ctr"/>
          <a:lstStyle/>
          <a:p>
            <a:pPr algn="ctr" indent="0" marL="0">
              <a:buNone/>
            </a:pPr>
            <a:r>
              <a:rPr lang="en-US" sz="1300" b="1" dirty="0">
                <a:solidFill>
                  <a:srgbClr val="990011"/>
                </a:solidFill>
                <a:latin typeface="Calibri" pitchFamily="34" charset="0"/>
                <a:ea typeface="Calibri" pitchFamily="34" charset="-122"/>
                <a:cs typeface="Calibri" pitchFamily="34" charset="-120"/>
              </a:rPr>
              <a:t>IMAGE PLACEHOLDER
</a:t>
            </a:r>
            <a:endParaRPr lang="en-US" sz="1300" dirty="0"/>
          </a:p>
          <a:p>
            <a:pPr algn="ctr" indent="0" marL="0">
              <a:buNone/>
            </a:pPr>
            <a:r>
              <a:rPr lang="en-US" sz="1100" i="1" dirty="0">
                <a:solidFill>
                  <a:srgbClr val="6B6B6B"/>
                </a:solidFill>
                <a:latin typeface="Calibri" pitchFamily="34" charset="0"/>
                <a:ea typeface="Calibri" pitchFamily="34" charset="-122"/>
                <a:cs typeface="Calibri" pitchFamily="34" charset="-120"/>
              </a:rPr>
              <a:t>Insert: screenshots/island_overview.png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320040"/>
          </a:xfrm>
          <a:prstGeom prst="rect">
            <a:avLst/>
          </a:prstGeom>
          <a:noFill/>
          <a:ln/>
        </p:spPr>
        <p:txBody>
          <a:bodyPr wrap="square" lIns="0" tIns="0" rIns="0" bIns="0" rtlCol="0" anchor="ctr"/>
          <a:lstStyle/>
          <a:p>
            <a:pPr indent="0" marL="0">
              <a:buNone/>
            </a:pPr>
            <a:r>
              <a:rPr lang="en-US" sz="1200" b="1" dirty="0">
                <a:solidFill>
                  <a:srgbClr val="990011"/>
                </a:solidFill>
                <a:latin typeface="Calibri" pitchFamily="34" charset="0"/>
                <a:ea typeface="Calibri" pitchFamily="34" charset="-122"/>
                <a:cs typeface="Calibri" pitchFamily="34" charset="-120"/>
              </a:rPr>
              <a:t>05 / 08  —  COLLISIONS</a:t>
            </a:r>
            <a:endParaRPr lang="en-US" sz="1200" dirty="0"/>
          </a:p>
        </p:txBody>
      </p:sp>
      <p:sp>
        <p:nvSpPr>
          <p:cNvPr id="3" name="Text 1"/>
          <p:cNvSpPr txBox="1"/>
          <p:nvPr/>
        </p:nvSpPr>
        <p:spPr>
          <a:xfrm>
            <a:off x="457200" y="594360"/>
            <a:ext cx="11247120" cy="82296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Collisions &amp; Physics</a:t>
            </a:r>
            <a:endParaRPr lang="en-US" sz="3400" dirty="0"/>
          </a:p>
        </p:txBody>
      </p:sp>
      <p:sp>
        <p:nvSpPr>
          <p:cNvPr id="4" name="Shape 2"/>
          <p:cNvSpPr/>
          <p:nvPr/>
        </p:nvSpPr>
        <p:spPr>
          <a:xfrm>
            <a:off x="457200" y="1737360"/>
            <a:ext cx="4663440" cy="4297680"/>
          </a:xfrm>
          <a:prstGeom prst="rect">
            <a:avLst/>
          </a:prstGeom>
          <a:solidFill>
            <a:srgbClr val="F0E4E4"/>
          </a:solidFill>
          <a:ln w="15875">
            <a:solidFill>
              <a:srgbClr val="990011"/>
            </a:solidFill>
            <a:prstDash val="dash"/>
          </a:ln>
        </p:spPr>
      </p:sp>
      <p:sp>
        <p:nvSpPr>
          <p:cNvPr id="5" name="Text 3"/>
          <p:cNvSpPr txBox="1"/>
          <p:nvPr/>
        </p:nvSpPr>
        <p:spPr>
          <a:xfrm>
            <a:off x="594360" y="3520440"/>
            <a:ext cx="4389120" cy="731520"/>
          </a:xfrm>
          <a:prstGeom prst="rect">
            <a:avLst/>
          </a:prstGeom>
          <a:noFill/>
          <a:ln/>
        </p:spPr>
        <p:txBody>
          <a:bodyPr wrap="square" lIns="0" tIns="0" rIns="0" bIns="0" rtlCol="0" anchor="ctr"/>
          <a:lstStyle/>
          <a:p>
            <a:pPr algn="ctr" indent="0" marL="0">
              <a:buNone/>
            </a:pPr>
            <a:r>
              <a:rPr lang="en-US" sz="1300" b="1" dirty="0">
                <a:solidFill>
                  <a:srgbClr val="990011"/>
                </a:solidFill>
                <a:latin typeface="Calibri" pitchFamily="34" charset="0"/>
                <a:ea typeface="Calibri" pitchFamily="34" charset="-122"/>
                <a:cs typeface="Calibri" pitchFamily="34" charset="-120"/>
              </a:rPr>
              <a:t>IMAGE PLACEHOLDER
</a:t>
            </a:r>
            <a:endParaRPr lang="en-US" sz="1300" dirty="0"/>
          </a:p>
          <a:p>
            <a:pPr algn="ctr" indent="0" marL="0">
              <a:buNone/>
            </a:pPr>
            <a:r>
              <a:rPr lang="en-US" sz="1100" i="1" dirty="0">
                <a:solidFill>
                  <a:srgbClr val="6B6B6B"/>
                </a:solidFill>
                <a:latin typeface="Calibri" pitchFamily="34" charset="0"/>
                <a:ea typeface="Calibri" pitchFamily="34" charset="-122"/>
                <a:cs typeface="Calibri" pitchFamily="34" charset="-120"/>
              </a:rPr>
              <a:t>Insert: screenshots/collider_mario_house.png</a:t>
            </a:r>
            <a:endParaRPr lang="en-US" sz="1300" dirty="0"/>
          </a:p>
        </p:txBody>
      </p:sp>
      <p:sp>
        <p:nvSpPr>
          <p:cNvPr id="6" name="Text 4"/>
          <p:cNvSpPr txBox="1"/>
          <p:nvPr/>
        </p:nvSpPr>
        <p:spPr>
          <a:xfrm>
            <a:off x="5394960" y="1737360"/>
            <a:ext cx="6309360" cy="42976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A dedicated physics engine (cannon-es) runs separately from the rendering engine (Three.js)</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Every character and object has a simplified collision volume, independent of its visible mesh</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Complex shapes (e.g. Mario's house) use one physics body composed of several simple shapes combined together</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Special zones: water/mud that slows the player, hazard areas such as lava</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320040"/>
          </a:xfrm>
          <a:prstGeom prst="rect">
            <a:avLst/>
          </a:prstGeom>
          <a:noFill/>
          <a:ln/>
        </p:spPr>
        <p:txBody>
          <a:bodyPr wrap="square" lIns="0" tIns="0" rIns="0" bIns="0" rtlCol="0" anchor="ctr"/>
          <a:lstStyle/>
          <a:p>
            <a:pPr indent="0" marL="0">
              <a:buNone/>
            </a:pPr>
            <a:r>
              <a:rPr lang="en-US" sz="1200" b="1" dirty="0">
                <a:solidFill>
                  <a:srgbClr val="990011"/>
                </a:solidFill>
                <a:latin typeface="Calibri" pitchFamily="34" charset="0"/>
                <a:ea typeface="Calibri" pitchFamily="34" charset="-122"/>
                <a:cs typeface="Calibri" pitchFamily="34" charset="-120"/>
              </a:rPr>
              <a:t>06 / 08  —  INTERACTIONS</a:t>
            </a:r>
            <a:endParaRPr lang="en-US" sz="1200" dirty="0"/>
          </a:p>
        </p:txBody>
      </p:sp>
      <p:sp>
        <p:nvSpPr>
          <p:cNvPr id="3" name="Text 1"/>
          <p:cNvSpPr txBox="1"/>
          <p:nvPr/>
        </p:nvSpPr>
        <p:spPr>
          <a:xfrm>
            <a:off x="457200" y="594360"/>
            <a:ext cx="11247120" cy="82296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Interactions &amp; Objectives</a:t>
            </a:r>
            <a:endParaRPr lang="en-US" sz="3400" dirty="0"/>
          </a:p>
        </p:txBody>
      </p:sp>
      <p:sp>
        <p:nvSpPr>
          <p:cNvPr id="4" name="Text 2"/>
          <p:cNvSpPr txBox="1"/>
          <p:nvPr/>
        </p:nvSpPr>
        <p:spPr>
          <a:xfrm>
            <a:off x="457200" y="1737360"/>
            <a:ext cx="6309360" cy="42976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A quest system tracks 5 Power Stars scattered across the map</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Two boss fights (Kamek and Bowser), each in its own arena</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Dialogue with NPCs (e.g. Toad) and riding Yoshi as interaction mechanics</a:t>
            </a:r>
            <a:endParaRPr lang="en-US" sz="1600" dirty="0"/>
          </a:p>
          <a:p>
            <a:pPr marL="342900" indent="-342900">
              <a:spcAft>
                <a:spcPts val="1400"/>
              </a:spcAft>
              <a:buSzPct val="100000"/>
              <a:buChar char="▪"/>
            </a:pPr>
            <a:r>
              <a:rPr lang="en-US" sz="1600" dirty="0">
                <a:solidFill>
                  <a:srgbClr val="1A1A1A"/>
                </a:solidFill>
                <a:latin typeface="Calibri" pitchFamily="34" charset="0"/>
                <a:ea typeface="Calibri" pitchFamily="34" charset="-122"/>
                <a:cs typeface="Calibri" pitchFamily="34" charset="-120"/>
              </a:rPr>
              <a:t>UI layer: pause menu, quest indicators, and music that switches automatically per zone</a:t>
            </a:r>
            <a:endParaRPr lang="en-US" sz="1600" dirty="0"/>
          </a:p>
        </p:txBody>
      </p:sp>
      <p:sp>
        <p:nvSpPr>
          <p:cNvPr id="5" name="Shape 3"/>
          <p:cNvSpPr/>
          <p:nvPr/>
        </p:nvSpPr>
        <p:spPr>
          <a:xfrm>
            <a:off x="7040880" y="1737360"/>
            <a:ext cx="4663440" cy="4297680"/>
          </a:xfrm>
          <a:prstGeom prst="rect">
            <a:avLst/>
          </a:prstGeom>
          <a:solidFill>
            <a:srgbClr val="F0E4E4"/>
          </a:solidFill>
          <a:ln w="15875">
            <a:solidFill>
              <a:srgbClr val="990011"/>
            </a:solidFill>
            <a:prstDash val="dash"/>
          </a:ln>
        </p:spPr>
      </p:sp>
      <p:sp>
        <p:nvSpPr>
          <p:cNvPr id="6" name="Text 4"/>
          <p:cNvSpPr txBox="1"/>
          <p:nvPr/>
        </p:nvSpPr>
        <p:spPr>
          <a:xfrm>
            <a:off x="7178040" y="3520440"/>
            <a:ext cx="4389120" cy="731520"/>
          </a:xfrm>
          <a:prstGeom prst="rect">
            <a:avLst/>
          </a:prstGeom>
          <a:noFill/>
          <a:ln/>
        </p:spPr>
        <p:txBody>
          <a:bodyPr wrap="square" lIns="0" tIns="0" rIns="0" bIns="0" rtlCol="0" anchor="ctr"/>
          <a:lstStyle/>
          <a:p>
            <a:pPr algn="ctr" indent="0" marL="0">
              <a:buNone/>
            </a:pPr>
            <a:r>
              <a:rPr lang="en-US" sz="1300" b="1" dirty="0">
                <a:solidFill>
                  <a:srgbClr val="990011"/>
                </a:solidFill>
                <a:latin typeface="Calibri" pitchFamily="34" charset="0"/>
                <a:ea typeface="Calibri" pitchFamily="34" charset="-122"/>
                <a:cs typeface="Calibri" pitchFamily="34" charset="-120"/>
              </a:rPr>
              <a:t>IMAGE PLACEHOLDER
</a:t>
            </a:r>
            <a:endParaRPr lang="en-US" sz="1300" dirty="0"/>
          </a:p>
          <a:p>
            <a:pPr algn="ctr" indent="0" marL="0">
              <a:buNone/>
            </a:pPr>
            <a:r>
              <a:rPr lang="en-US" sz="1100" i="1" dirty="0">
                <a:solidFill>
                  <a:srgbClr val="6B6B6B"/>
                </a:solidFill>
                <a:latin typeface="Calibri" pitchFamily="34" charset="0"/>
                <a:ea typeface="Calibri" pitchFamily="34" charset="-122"/>
                <a:cs typeface="Calibri" pitchFamily="34" charset="-120"/>
              </a:rPr>
              <a:t>Insert: screenshots/pause_menu.png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990011"/>
        </a:solidFill>
      </p:bgPr>
    </p:bg>
    <p:spTree>
      <p:nvGrpSpPr>
        <p:cNvPr id="1" name=""/>
        <p:cNvGrpSpPr/>
        <p:nvPr/>
      </p:nvGrpSpPr>
      <p:grpSpPr>
        <a:xfrm>
          <a:off x="0" y="0"/>
          <a:ext cx="0" cy="0"/>
          <a:chOff x="0" y="0"/>
          <a:chExt cx="0" cy="0"/>
        </a:xfrm>
      </p:grpSpPr>
      <p:sp>
        <p:nvSpPr>
          <p:cNvPr id="2" name="Shape 0"/>
          <p:cNvSpPr/>
          <p:nvPr/>
        </p:nvSpPr>
        <p:spPr>
          <a:xfrm>
            <a:off x="9144000" y="4114800"/>
            <a:ext cx="5486400" cy="5486400"/>
          </a:xfrm>
          <a:prstGeom prst="ellipse">
            <a:avLst/>
          </a:prstGeom>
          <a:solidFill>
            <a:srgbClr val="2F3C7E">
              <a:alpha val="30000"/>
            </a:srgbClr>
          </a:solidFill>
          <a:ln/>
        </p:spPr>
      </p:sp>
      <p:sp>
        <p:nvSpPr>
          <p:cNvPr id="3" name="Text 1"/>
          <p:cNvSpPr txBox="1"/>
          <p:nvPr/>
        </p:nvSpPr>
        <p:spPr>
          <a:xfrm>
            <a:off x="822960" y="2651760"/>
            <a:ext cx="10058400" cy="12801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LIVE DEMO</a:t>
            </a:r>
            <a:endParaRPr lang="en-US" sz="5400" dirty="0"/>
          </a:p>
        </p:txBody>
      </p:sp>
      <p:sp>
        <p:nvSpPr>
          <p:cNvPr id="4" name="Text 2"/>
          <p:cNvSpPr txBox="1"/>
          <p:nvPr/>
        </p:nvSpPr>
        <p:spPr>
          <a:xfrm>
            <a:off x="822960" y="3794760"/>
            <a:ext cx="9144000" cy="548640"/>
          </a:xfrm>
          <a:prstGeom prst="rect">
            <a:avLst/>
          </a:prstGeom>
          <a:noFill/>
          <a:ln/>
        </p:spPr>
        <p:txBody>
          <a:bodyPr wrap="square" lIns="0" tIns="0" rIns="0" bIns="0" rtlCol="0" anchor="ctr"/>
          <a:lstStyle/>
          <a:p>
            <a:pPr indent="0" marL="0">
              <a:buNone/>
            </a:pPr>
            <a:r>
              <a:rPr lang="en-US" sz="1800" i="1" dirty="0">
                <a:solidFill>
                  <a:srgbClr val="FCF6F5"/>
                </a:solidFill>
                <a:latin typeface="Calibri" pitchFamily="34" charset="0"/>
                <a:ea typeface="Calibri" pitchFamily="34" charset="-122"/>
                <a:cs typeface="Calibri" pitchFamily="34" charset="-120"/>
              </a:rPr>
              <a:t>Switching from slides to the game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990011">
              <a:alpha val="25000"/>
            </a:srgbClr>
          </a:solidFill>
          <a:ln/>
        </p:spPr>
      </p:sp>
      <p:sp>
        <p:nvSpPr>
          <p:cNvPr id="3" name="Text 1"/>
          <p:cNvSpPr txBox="1"/>
          <p:nvPr/>
        </p:nvSpPr>
        <p:spPr>
          <a:xfrm>
            <a:off x="822960" y="1280160"/>
            <a:ext cx="91440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2"/>
          <p:cNvSpPr txBox="1"/>
          <p:nvPr/>
        </p:nvSpPr>
        <p:spPr>
          <a:xfrm>
            <a:off x="822960" y="2148840"/>
            <a:ext cx="9144000" cy="54864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Questions?</a:t>
            </a:r>
            <a:endParaRPr lang="en-US" sz="2000" dirty="0"/>
          </a:p>
        </p:txBody>
      </p:sp>
      <p:sp>
        <p:nvSpPr>
          <p:cNvPr id="5" name="Text 3"/>
          <p:cNvSpPr txBox="1"/>
          <p:nvPr/>
        </p:nvSpPr>
        <p:spPr>
          <a:xfrm>
            <a:off x="822960" y="3017520"/>
            <a:ext cx="10058400" cy="25603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FFFFFF"/>
                </a:solidFill>
                <a:latin typeface="Calibri" pitchFamily="34" charset="0"/>
                <a:ea typeface="Calibri" pitchFamily="34" charset="-122"/>
                <a:cs typeface="Calibri" pitchFamily="34" charset="-120"/>
              </a:rPr>
              <a:t>A complete 3D platformer: rigged &amp; animated characters, physics-driven collisions, a data-driven map, and a full quest/boss loop</a:t>
            </a:r>
            <a:endParaRPr lang="en-US" sz="1600" dirty="0"/>
          </a:p>
          <a:p>
            <a:pPr marL="342900" indent="-342900">
              <a:spcAft>
                <a:spcPts val="1400"/>
              </a:spcAft>
              <a:buSzPct val="100000"/>
              <a:buChar char="▪"/>
            </a:pPr>
            <a:r>
              <a:rPr lang="en-US" sz="1600" dirty="0">
                <a:solidFill>
                  <a:srgbClr val="FFFFFF"/>
                </a:solidFill>
                <a:latin typeface="Calibri" pitchFamily="34" charset="0"/>
                <a:ea typeface="Calibri" pitchFamily="34" charset="-122"/>
                <a:cs typeface="Calibri" pitchFamily="34" charset="-120"/>
              </a:rPr>
              <a:t>Built with Three.js (rendering) and cannon-es (physics), running entirely in the browser</a:t>
            </a:r>
            <a:endParaRPr lang="en-US" sz="1600" dirty="0"/>
          </a:p>
          <a:p>
            <a:pPr marL="342900" indent="-342900">
              <a:spcAft>
                <a:spcPts val="1400"/>
              </a:spcAft>
              <a:buSzPct val="100000"/>
              <a:buChar char="▪"/>
            </a:pPr>
            <a:r>
              <a:rPr lang="en-US" sz="1600" dirty="0">
                <a:solidFill>
                  <a:srgbClr val="FFFFFF"/>
                </a:solidFill>
                <a:latin typeface="Calibri" pitchFamily="34" charset="0"/>
                <a:ea typeface="Calibri" pitchFamily="34" charset="-122"/>
                <a:cs typeface="Calibri" pitchFamily="34" charset="-120"/>
              </a:rPr>
              <a:t>Possible extensions: [e.g. new levels, multiplayer, new enemies]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2026-08-28T11:12:33Z</dcterms:created>
  <dcterms:modified xsi:type="dcterms:W3CDTF">2026-08-28T11:12:33Z</dcterms:modified>
</cp:coreProperties>
</file>